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Helvetica"/>
              </a:defRPr>
            </a:pPr>
            <a:r>
              <a:t>NTRO SIH 26156: Universal Log Pre-processing</a:t>
            </a:r>
          </a:p>
          <a:p>
            <a:pPr>
              <a:defRPr sz="1300">
                <a:solidFill>
                  <a:srgbClr val="F1F5F9"/>
                </a:solidFill>
                <a:latin typeface="Helvetica"/>
              </a:defRPr>
            </a:pPr>
            <a:r>
              <a:t>The Problem: Perimeter Telemetry Blindspots &amp; Forensics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7680960" cy="30175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100">
                <a:solidFill>
                  <a:srgbClr val="F1F5F9"/>
                </a:solidFill>
                <a:latin typeface="Helvetica"/>
              </a:defRPr>
            </a:pPr>
            <a:r>
              <a:t>•  Disparate Appliance Schemas: Firewalls, WAFs, and proxies emit incompatible formats (CEF, Syslog, KV, JSON, TSV).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  <a:latin typeface="Helvetica"/>
              </a:defRPr>
            </a:pPr>
            <a:r>
              <a:t>•  Evidentiary Corruption: Legacy pre-processors mutate strings in-place without raw SHA-256 wire digests or byte lineage.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  <a:latin typeface="Helvetica"/>
              </a:defRPr>
            </a:pPr>
            <a:r>
              <a:t>•  Air-Gap Violations: SaaS/cloud parsers leak sensitive defense network topology and violate sovereignty mandates.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  <a:latin typeface="Helvetica"/>
              </a:defRPr>
            </a:pPr>
            <a:r>
              <a:t>•  Scale Challenge: Defense SOCs handle tens of millions to 1B events/day (11,574 EPS sustained) demanding verified architectures.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Helvetica"/>
              </a:defRPr>
            </a:pPr>
            <a:r>
              <a:t>AegisGuard-ULPF Architecture</a:t>
            </a:r>
          </a:p>
          <a:p>
            <a:pPr>
              <a:defRPr sz="1300">
                <a:solidFill>
                  <a:srgbClr val="F1F5F9"/>
                </a:solidFill>
                <a:latin typeface="Helvetica"/>
              </a:defRPr>
            </a:pPr>
            <a:r>
              <a:t>Sovereign, Lossless, Air-Gapped Telemetry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7680960" cy="30175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100">
                <a:solidFill>
                  <a:srgbClr val="F1F5F9"/>
                </a:solidFill>
                <a:latin typeface="Helvetica"/>
              </a:defRPr>
            </a:pPr>
            <a:r>
              <a:t>•  Lossless Wire Vault: Every raw event Base64 encoded + SHA-256 hashed before transformation (0% dropped).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  <a:latin typeface="Helvetica"/>
              </a:defRPr>
            </a:pPr>
            <a:r>
              <a:t>•  Pinned Taxonomy: Normalizes multi-vendor streams into strict OCSF v1.1.0 records with unmapped attribute preservation.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  <a:latin typeface="Helvetica"/>
              </a:defRPr>
            </a:pPr>
            <a:r>
              <a:t>•  RFC 6962 Merkle Tree: Domain-separated cryptographic ledger with Ed25519-signed enclave checkpoints.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  <a:latin typeface="Helvetica"/>
              </a:defRPr>
            </a:pPr>
            <a:r>
              <a:t>•  Multi-Sink Lakehouse: Native Apache Parquet export with fixed 15-column schema, NDJSON, Splunk HEC, and Elastic bulk.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Helvetica"/>
              </a:defRPr>
            </a:pPr>
            <a:r>
              <a:t>Key Technical Differentiators</a:t>
            </a:r>
          </a:p>
          <a:p>
            <a:pPr>
              <a:defRPr sz="1300">
                <a:solidFill>
                  <a:srgbClr val="F1F5F9"/>
                </a:solidFill>
                <a:latin typeface="Helvetica"/>
              </a:defRPr>
            </a:pPr>
            <a:r>
              <a:t>Empirical Evidence vs Industry Prior 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7680960" cy="30175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100">
                <a:solidFill>
                  <a:srgbClr val="F1F5F9"/>
                </a:solidFill>
                <a:latin typeface="Helvetica"/>
              </a:defRPr>
            </a:pPr>
            <a:r>
              <a:t>•  Bit-Exact Byte Lineage: FieldLineageSpan maps normalized fields to exact [start:end] character slices in raw wire payload.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  <a:latin typeface="Helvetica"/>
              </a:defRPr>
            </a:pPr>
            <a:r>
              <a:t>•  Empirically Measured Benchmarks: 11,030 EPS streaming; 4,493 EPS full SQLite WAL disk persistence on commodity 4-core hardware.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  <a:latin typeface="Helvetica"/>
              </a:defRPr>
            </a:pPr>
            <a:r>
              <a:t>•  Real-World Corpora Tested: 100% of 10,000 real Loghub records (OpenSSH, Linux, Apache, Proxifier, HDFS) emitted as OCSF.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  <a:latin typeface="Helvetica"/>
              </a:defRPr>
            </a:pPr>
            <a:r>
              <a:t>•  Sovereign Indian Compliance: Verhoeff D5 Aadhaar checksum scrubber, Income Tax PAN validator, Luhn IMEI, and CERT-In 6-hour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Helvetica"/>
              </a:defRPr>
            </a:pPr>
            <a:r>
              <a:t>Two-Minute Evaluation &amp; Demo Flow</a:t>
            </a:r>
          </a:p>
          <a:p>
            <a:pPr>
              <a:defRPr sz="1300">
                <a:solidFill>
                  <a:srgbClr val="F1F5F9"/>
                </a:solidFill>
                <a:latin typeface="Helvetica"/>
              </a:defRPr>
            </a:pPr>
            <a:r>
              <a:t>Adversarial Verification for Technical Evaluators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7680960" cy="30175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100">
                <a:solidFill>
                  <a:srgbClr val="F1F5F9"/>
                </a:solidFill>
                <a:latin typeface="Helvetica"/>
              </a:defRPr>
            </a:pPr>
            <a:r>
              <a:t>•  Single-Command Launch: ./start_demo.sh brings up offline FastAPI backend, Vite console, and live multi-source syslog.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  <a:latin typeface="Helvetica"/>
              </a:defRPr>
            </a:pPr>
            <a:r>
              <a:t>•  Forensic Log Drawer: Side-by-side Raw Wire vs OCSF comparison, Base64 payload, and coordinate byte-span pointers.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  <a:latin typeface="Helvetica"/>
              </a:defRPr>
            </a:pPr>
            <a:r>
              <a:t>•  Tamper Demonstration: Mutate 1 stored byte -&gt; verify_bundle.py rejects; re-seal attack caught by external Ed25519 checkpoint.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  <a:latin typeface="Helvetica"/>
              </a:defRPr>
            </a:pPr>
            <a:r>
              <a:t>•  Air-Gap Proof: scripts/airgap_proof.sh enforces fail-closed EPERM socket blocking with zero cloud egress.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  <a:latin typeface="Helvetica"/>
              </a:defRPr>
            </a:pPr>
            <a:r>
              <a:t>Scale, Capacity &amp; Engineering Boundaries</a:t>
            </a:r>
          </a:p>
          <a:p>
            <a:pPr>
              <a:defRPr sz="1300">
                <a:solidFill>
                  <a:srgbClr val="F1F5F9"/>
                </a:solidFill>
                <a:latin typeface="Helvetica"/>
              </a:defRPr>
            </a:pPr>
            <a:r>
              <a:t>Honest Disclosure of Operational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7680960" cy="30175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100">
                <a:solidFill>
                  <a:srgbClr val="F1F5F9"/>
                </a:solidFill>
                <a:latin typeface="Helvetica"/>
              </a:defRPr>
            </a:pPr>
            <a:r>
              <a:t>•  The 1B/Day Reality: 1,000,000,000 / 86,400s = 11,574 EPS. Single Python worker reaches ~4,500 EPS with full WAL writes.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  <a:latin typeface="Helvetica"/>
              </a:defRPr>
            </a:pPr>
            <a:r>
              <a:t>•  Kafka Partitioned Design: Horizontal multi-worker scaling behind partitioned message queues designed for 50k+ EPS.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  <a:latin typeface="Helvetica"/>
              </a:defRPr>
            </a:pPr>
            <a:r>
              <a:t>•  Software-Enforced Immutability: Software append-only WAL is tamper-evident; physical write protection requires optical media / hardware WORM.</a:t>
            </a:r>
          </a:p>
          <a:p>
            <a:pPr>
              <a:spcAft>
                <a:spcPts val="1000"/>
              </a:spcAft>
              <a:defRPr sz="1100">
                <a:solidFill>
                  <a:srgbClr val="F1F5F9"/>
                </a:solidFill>
                <a:latin typeface="Helvetica"/>
              </a:defRPr>
            </a:pPr>
            <a:r>
              <a:t>•  Human Gate on Unknown Onboarding: Deterministic drafter profiles unknown syntax, but requires human operator review before promotion.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